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DK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DK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6159384-130F-45D9-A822-23D29ABE2166}" type="slidenum"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D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B23A0-FF32-4939-9900-61089C8F94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D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1FF25B-13FC-4C52-9A1F-0E5DA384A0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D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2705FB-DE78-4DE1-8235-B83C4EA7B4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D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246AB-DB94-4358-9877-4E79E35269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427A9-92ED-43EB-8F27-73A2FF94F1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432F512-27C3-4DC6-AD03-B8141E4E2E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44CBA18-B280-4E75-8CEB-632EF769CA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5798352-0774-4D8A-9EF5-806AFC273E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48C03BA-FDE6-4309-AC3C-44EDA6C350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3550519-34EC-4221-97C3-C09138A72C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4293E15-4A88-4C1F-8A04-4CDF3A5A9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D6EF812-CF83-4B00-AB75-B18B24BC38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3A98DF6-C0EE-4032-BDF5-129DBF6D74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8D4384A-2870-4E26-835C-5F690FE8CA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D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52BF8B-86FB-456A-962A-F0CA86847E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56C3B5-772E-4B8A-A564-B2F1D75D5B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4BC1BF-A7FA-4E16-AFD6-AD987ECCEC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BDB46-8916-4555-9702-4643762EB6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C96F8-41EF-4D9A-8683-0C272554BD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CC4F73-1533-437B-9125-EA133E0A89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09B96F-D35E-47BA-AD56-4D91A4C046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2A5E56-9BC1-42AA-9DC7-FF5D067DF3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B4535-07D4-42AA-8EAB-FDD9B3569A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43790F-7FD9-4667-9572-F4430D38F6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DK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DK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DK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3814FA-402A-4004-A487-BB905CED83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DK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1"/>
          <p:cNvGrpSpPr/>
          <p:nvPr/>
        </p:nvGrpSpPr>
        <p:grpSpPr>
          <a:xfrm>
            <a:off x="3085920" y="1398240"/>
            <a:ext cx="3911400" cy="3849480"/>
            <a:chOff x="3085920" y="1398240"/>
            <a:chExt cx="3911400" cy="3849480"/>
          </a:xfrm>
        </p:grpSpPr>
        <p:sp>
          <p:nvSpPr>
            <p:cNvPr id="73" name="Rectangle 3"/>
            <p:cNvSpPr/>
            <p:nvPr/>
          </p:nvSpPr>
          <p:spPr>
            <a:xfrm>
              <a:off x="3085920" y="4095000"/>
              <a:ext cx="1151640" cy="11516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meritP1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Rectangle 4"/>
            <p:cNvSpPr/>
            <p:nvPr/>
          </p:nvSpPr>
          <p:spPr>
            <a:xfrm>
              <a:off x="4465800" y="4096080"/>
              <a:ext cx="1151640" cy="11516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meritP2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Rectangle 5"/>
            <p:cNvSpPr/>
            <p:nvPr/>
          </p:nvSpPr>
          <p:spPr>
            <a:xfrm>
              <a:off x="5845680" y="4095000"/>
              <a:ext cx="1151640" cy="11516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meritP3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Oval 6"/>
            <p:cNvSpPr/>
            <p:nvPr/>
          </p:nvSpPr>
          <p:spPr>
            <a:xfrm>
              <a:off x="4276440" y="1398240"/>
              <a:ext cx="1535760" cy="15357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Belief in Meritocracy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77" name="Straight Arrow Connector 7"/>
            <p:cNvCxnSpPr>
              <a:stCxn id="76" idx="4"/>
              <a:endCxn id="73" idx="0"/>
            </p:cNvCxnSpPr>
            <p:nvPr/>
          </p:nvCxnSpPr>
          <p:spPr>
            <a:xfrm flipH="1">
              <a:off x="3661560" y="2934000"/>
              <a:ext cx="1383120" cy="11613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78" name="Straight Arrow Connector 13"/>
            <p:cNvCxnSpPr>
              <a:stCxn id="76" idx="4"/>
              <a:endCxn id="74" idx="0"/>
            </p:cNvCxnSpPr>
            <p:nvPr/>
          </p:nvCxnSpPr>
          <p:spPr>
            <a:xfrm flipH="1">
              <a:off x="5041440" y="2934000"/>
              <a:ext cx="3240" cy="11624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79" name="Straight Arrow Connector 14"/>
            <p:cNvCxnSpPr>
              <a:stCxn id="76" idx="4"/>
              <a:endCxn id="75" idx="0"/>
            </p:cNvCxnSpPr>
            <p:nvPr/>
          </p:nvCxnSpPr>
          <p:spPr>
            <a:xfrm>
              <a:off x="5044320" y="2934000"/>
              <a:ext cx="1377360" cy="11613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</p:grpSp>
      <p:grpSp>
        <p:nvGrpSpPr>
          <p:cNvPr id="80" name="Group 2"/>
          <p:cNvGrpSpPr/>
          <p:nvPr/>
        </p:nvGrpSpPr>
        <p:grpSpPr>
          <a:xfrm>
            <a:off x="8174520" y="100800"/>
            <a:ext cx="3911400" cy="3861000"/>
            <a:chOff x="8174520" y="100800"/>
            <a:chExt cx="3911400" cy="3861000"/>
          </a:xfrm>
        </p:grpSpPr>
        <p:sp>
          <p:nvSpPr>
            <p:cNvPr id="81" name="Rectangle 30"/>
            <p:cNvSpPr/>
            <p:nvPr/>
          </p:nvSpPr>
          <p:spPr>
            <a:xfrm>
              <a:off x="8174520" y="2809440"/>
              <a:ext cx="1151640" cy="11516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policyP1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Rectangle 31"/>
            <p:cNvSpPr/>
            <p:nvPr/>
          </p:nvSpPr>
          <p:spPr>
            <a:xfrm>
              <a:off x="9554400" y="2810160"/>
              <a:ext cx="1151640" cy="11516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policyP2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Rectangle 32"/>
            <p:cNvSpPr/>
            <p:nvPr/>
          </p:nvSpPr>
          <p:spPr>
            <a:xfrm>
              <a:off x="10934280" y="2809440"/>
              <a:ext cx="1151640" cy="11516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policyP3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Oval 33"/>
            <p:cNvSpPr/>
            <p:nvPr/>
          </p:nvSpPr>
          <p:spPr>
            <a:xfrm>
              <a:off x="9348840" y="100800"/>
              <a:ext cx="1535760" cy="15357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Policy Support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5" name="Straight Arrow Connector 34"/>
            <p:cNvCxnSpPr>
              <a:stCxn id="84" idx="4"/>
              <a:endCxn id="81" idx="0"/>
            </p:cNvCxnSpPr>
            <p:nvPr/>
          </p:nvCxnSpPr>
          <p:spPr>
            <a:xfrm flipH="1">
              <a:off x="8750160" y="1636560"/>
              <a:ext cx="1366920" cy="11732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86" name="Straight Arrow Connector 35"/>
            <p:cNvCxnSpPr>
              <a:stCxn id="84" idx="4"/>
              <a:endCxn id="82" idx="0"/>
            </p:cNvCxnSpPr>
            <p:nvPr/>
          </p:nvCxnSpPr>
          <p:spPr>
            <a:xfrm>
              <a:off x="10116720" y="1636560"/>
              <a:ext cx="13680" cy="1173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87" name="Straight Arrow Connector 36"/>
            <p:cNvCxnSpPr>
              <a:stCxn id="84" idx="4"/>
              <a:endCxn id="83" idx="0"/>
            </p:cNvCxnSpPr>
            <p:nvPr/>
          </p:nvCxnSpPr>
          <p:spPr>
            <a:xfrm>
              <a:off x="10116720" y="1636560"/>
              <a:ext cx="1393560" cy="11732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</p:grpSp>
      <p:sp>
        <p:nvSpPr>
          <p:cNvPr id="88" name="Rectangle 54"/>
          <p:cNvSpPr/>
          <p:nvPr/>
        </p:nvSpPr>
        <p:spPr>
          <a:xfrm>
            <a:off x="54360" y="182880"/>
            <a:ext cx="1371240" cy="137124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Political Affiliation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" name="Straight Arrow Connector 55"/>
          <p:cNvCxnSpPr>
            <a:stCxn id="88" idx="3"/>
            <a:endCxn id="84" idx="2"/>
          </p:cNvCxnSpPr>
          <p:nvPr/>
        </p:nvCxnSpPr>
        <p:spPr>
          <a:xfrm>
            <a:off x="1425600" y="868320"/>
            <a:ext cx="7923600" cy="72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90" name="Straight Arrow Connector 56"/>
          <p:cNvCxnSpPr>
            <a:stCxn id="88" idx="3"/>
            <a:endCxn id="76" idx="2"/>
          </p:cNvCxnSpPr>
          <p:nvPr/>
        </p:nvCxnSpPr>
        <p:spPr>
          <a:xfrm>
            <a:off x="1425600" y="868320"/>
            <a:ext cx="2851200" cy="12981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91" name="Straight Arrow Connector 57"/>
          <p:cNvCxnSpPr>
            <a:stCxn id="76" idx="6"/>
            <a:endCxn id="84" idx="2"/>
          </p:cNvCxnSpPr>
          <p:nvPr/>
        </p:nvCxnSpPr>
        <p:spPr>
          <a:xfrm flipV="1">
            <a:off x="5812200" y="868680"/>
            <a:ext cx="3537000" cy="129780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92" name="Oval 58"/>
          <p:cNvSpPr/>
          <p:nvPr/>
        </p:nvSpPr>
        <p:spPr>
          <a:xfrm>
            <a:off x="3337200" y="5632920"/>
            <a:ext cx="639720" cy="6397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m1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Straight Arrow Connector 60"/>
          <p:cNvCxnSpPr>
            <a:stCxn id="92" idx="0"/>
            <a:endCxn id="73" idx="2"/>
          </p:cNvCxnSpPr>
          <p:nvPr/>
        </p:nvCxnSpPr>
        <p:spPr>
          <a:xfrm flipV="1">
            <a:off x="3657240" y="5246640"/>
            <a:ext cx="4680" cy="38664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94" name="Oval 65"/>
          <p:cNvSpPr/>
          <p:nvPr/>
        </p:nvSpPr>
        <p:spPr>
          <a:xfrm>
            <a:off x="6101640" y="5632920"/>
            <a:ext cx="639720" cy="6397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m3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" name="Straight Arrow Connector 66"/>
          <p:cNvCxnSpPr>
            <a:stCxn id="94" idx="0"/>
            <a:endCxn id="75" idx="2"/>
          </p:cNvCxnSpPr>
          <p:nvPr/>
        </p:nvCxnSpPr>
        <p:spPr>
          <a:xfrm flipH="1" flipV="1">
            <a:off x="6421320" y="5246640"/>
            <a:ext cx="720" cy="38664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96" name="Oval 67"/>
          <p:cNvSpPr/>
          <p:nvPr/>
        </p:nvSpPr>
        <p:spPr>
          <a:xfrm>
            <a:off x="4724280" y="5632920"/>
            <a:ext cx="639720" cy="6397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m2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Straight Arrow Connector 68"/>
          <p:cNvCxnSpPr>
            <a:stCxn id="96" idx="0"/>
            <a:endCxn id="74" idx="2"/>
          </p:cNvCxnSpPr>
          <p:nvPr/>
        </p:nvCxnSpPr>
        <p:spPr>
          <a:xfrm flipH="1" flipV="1">
            <a:off x="5041440" y="5247720"/>
            <a:ext cx="3240" cy="3855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98" name="Oval 69"/>
          <p:cNvSpPr/>
          <p:nvPr/>
        </p:nvSpPr>
        <p:spPr>
          <a:xfrm>
            <a:off x="8430480" y="4345560"/>
            <a:ext cx="639720" cy="6397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p1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Straight Arrow Connector 71"/>
          <p:cNvCxnSpPr>
            <a:stCxn id="98" idx="0"/>
            <a:endCxn id="81" idx="2"/>
          </p:cNvCxnSpPr>
          <p:nvPr/>
        </p:nvCxnSpPr>
        <p:spPr>
          <a:xfrm flipH="1" flipV="1">
            <a:off x="8750160" y="3961080"/>
            <a:ext cx="720" cy="38484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100" name="Oval 72"/>
          <p:cNvSpPr/>
          <p:nvPr/>
        </p:nvSpPr>
        <p:spPr>
          <a:xfrm>
            <a:off x="9810360" y="4345560"/>
            <a:ext cx="639720" cy="6397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p2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" name="Straight Arrow Connector 73"/>
          <p:cNvCxnSpPr>
            <a:stCxn id="100" idx="0"/>
            <a:endCxn id="82" idx="2"/>
          </p:cNvCxnSpPr>
          <p:nvPr/>
        </p:nvCxnSpPr>
        <p:spPr>
          <a:xfrm flipH="1" flipV="1">
            <a:off x="10130040" y="3961800"/>
            <a:ext cx="720" cy="38412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102" name="Oval 74"/>
          <p:cNvSpPr/>
          <p:nvPr/>
        </p:nvSpPr>
        <p:spPr>
          <a:xfrm>
            <a:off x="11190240" y="4345560"/>
            <a:ext cx="639720" cy="6397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p3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" name="Straight Arrow Connector 75"/>
          <p:cNvCxnSpPr>
            <a:stCxn id="102" idx="0"/>
            <a:endCxn id="83" idx="2"/>
          </p:cNvCxnSpPr>
          <p:nvPr/>
        </p:nvCxnSpPr>
        <p:spPr>
          <a:xfrm flipH="1" flipV="1">
            <a:off x="11509920" y="3961080"/>
            <a:ext cx="720" cy="38484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104" name="Oval 85"/>
          <p:cNvSpPr/>
          <p:nvPr/>
        </p:nvSpPr>
        <p:spPr>
          <a:xfrm>
            <a:off x="6546240" y="2208960"/>
            <a:ext cx="685440" cy="6854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e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1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5" name="Straight Arrow Connector 86"/>
          <p:cNvCxnSpPr>
            <a:stCxn id="104" idx="2"/>
            <a:endCxn id="76" idx="6"/>
          </p:cNvCxnSpPr>
          <p:nvPr/>
        </p:nvCxnSpPr>
        <p:spPr>
          <a:xfrm flipH="1" flipV="1">
            <a:off x="5812200" y="2166120"/>
            <a:ext cx="734400" cy="38592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106" name="Oval 91"/>
          <p:cNvSpPr/>
          <p:nvPr/>
        </p:nvSpPr>
        <p:spPr>
          <a:xfrm>
            <a:off x="11464920" y="910080"/>
            <a:ext cx="685440" cy="68544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e</a:t>
            </a:r>
            <a:r>
              <a:rPr b="0" lang="en-US" sz="1400" spc="-1" strike="noStrike" baseline="-25000">
                <a:solidFill>
                  <a:schemeClr val="dk1"/>
                </a:solidFill>
                <a:latin typeface="Times New Roman"/>
              </a:rPr>
              <a:t>2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Straight Arrow Connector 92"/>
          <p:cNvCxnSpPr>
            <a:stCxn id="106" idx="2"/>
            <a:endCxn id="84" idx="6"/>
          </p:cNvCxnSpPr>
          <p:nvPr/>
        </p:nvCxnSpPr>
        <p:spPr>
          <a:xfrm flipH="1" flipV="1">
            <a:off x="10884600" y="868680"/>
            <a:ext cx="580680" cy="38448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sp>
        <p:nvSpPr>
          <p:cNvPr id="108" name="TextBox 8"/>
          <p:cNvSpPr/>
          <p:nvPr/>
        </p:nvSpPr>
        <p:spPr>
          <a:xfrm>
            <a:off x="2640600" y="1463760"/>
            <a:ext cx="420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400" spc="-1" strike="noStrike">
                <a:solidFill>
                  <a:schemeClr val="dk1"/>
                </a:solidFill>
                <a:latin typeface="Times New Roman"/>
              </a:rPr>
              <a:t>a</a:t>
            </a:r>
            <a:endParaRPr b="0" lang="en-D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8"/>
          <p:cNvSpPr/>
          <p:nvPr/>
        </p:nvSpPr>
        <p:spPr>
          <a:xfrm>
            <a:off x="4831560" y="399240"/>
            <a:ext cx="420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400" spc="-1" strike="noStrike">
                <a:solidFill>
                  <a:schemeClr val="dk1"/>
                </a:solidFill>
                <a:latin typeface="Times New Roman"/>
              </a:rPr>
              <a:t>c’</a:t>
            </a:r>
            <a:endParaRPr b="0" lang="en-D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39"/>
          <p:cNvSpPr/>
          <p:nvPr/>
        </p:nvSpPr>
        <p:spPr>
          <a:xfrm>
            <a:off x="7704720" y="1462320"/>
            <a:ext cx="420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400" spc="-1" strike="noStrike">
                <a:solidFill>
                  <a:schemeClr val="dk1"/>
                </a:solidFill>
                <a:latin typeface="Times New Roman"/>
              </a:rPr>
              <a:t>b</a:t>
            </a:r>
            <a:endParaRPr b="0" lang="en-DK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"/>
          <p:cNvGrpSpPr/>
          <p:nvPr/>
        </p:nvGrpSpPr>
        <p:grpSpPr>
          <a:xfrm>
            <a:off x="1457280" y="295200"/>
            <a:ext cx="9064800" cy="6181560"/>
            <a:chOff x="1457280" y="295200"/>
            <a:chExt cx="9064800" cy="6181560"/>
          </a:xfrm>
        </p:grpSpPr>
        <p:sp>
          <p:nvSpPr>
            <p:cNvPr id="112" name="Oval 6"/>
            <p:cNvSpPr/>
            <p:nvPr/>
          </p:nvSpPr>
          <p:spPr>
            <a:xfrm>
              <a:off x="1457280" y="510552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VIC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Oval 33"/>
            <p:cNvSpPr/>
            <p:nvPr/>
          </p:nvSpPr>
          <p:spPr>
            <a:xfrm>
              <a:off x="4021920" y="510552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VIC_1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Oval 41"/>
            <p:cNvSpPr/>
            <p:nvPr/>
          </p:nvSpPr>
          <p:spPr>
            <a:xfrm>
              <a:off x="6586200" y="510552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VIC_2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Oval 49"/>
            <p:cNvSpPr/>
            <p:nvPr/>
          </p:nvSpPr>
          <p:spPr>
            <a:xfrm>
              <a:off x="9150840" y="510552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VIC_3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Oval 81"/>
            <p:cNvSpPr/>
            <p:nvPr/>
          </p:nvSpPr>
          <p:spPr>
            <a:xfrm>
              <a:off x="1465560" y="29520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TDV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Oval 82"/>
            <p:cNvSpPr/>
            <p:nvPr/>
          </p:nvSpPr>
          <p:spPr>
            <a:xfrm>
              <a:off x="4021920" y="29520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TDV_1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Oval 83"/>
            <p:cNvSpPr/>
            <p:nvPr/>
          </p:nvSpPr>
          <p:spPr>
            <a:xfrm>
              <a:off x="6586200" y="29520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TDV_2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Oval 84"/>
            <p:cNvSpPr/>
            <p:nvPr/>
          </p:nvSpPr>
          <p:spPr>
            <a:xfrm>
              <a:off x="9148320" y="29520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TDV_3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Oval 36"/>
            <p:cNvSpPr/>
            <p:nvPr/>
          </p:nvSpPr>
          <p:spPr>
            <a:xfrm>
              <a:off x="1457280" y="270036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SC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Oval 37"/>
            <p:cNvSpPr/>
            <p:nvPr/>
          </p:nvSpPr>
          <p:spPr>
            <a:xfrm>
              <a:off x="4021920" y="270036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SC_1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Oval 38"/>
            <p:cNvSpPr/>
            <p:nvPr/>
          </p:nvSpPr>
          <p:spPr>
            <a:xfrm>
              <a:off x="6586200" y="270036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SC_2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Oval 39"/>
            <p:cNvSpPr/>
            <p:nvPr/>
          </p:nvSpPr>
          <p:spPr>
            <a:xfrm>
              <a:off x="9148320" y="2700360"/>
              <a:ext cx="1371240" cy="13712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Calibri"/>
                </a:rPr>
                <a:t>SC_3</a:t>
              </a:r>
              <a:endParaRPr b="0" lang="en-DK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24" name="Curved Connector 42"/>
          <p:cNvCxnSpPr>
            <a:stCxn id="120" idx="2"/>
            <a:endCxn id="116" idx="2"/>
          </p:cNvCxnSpPr>
          <p:nvPr/>
        </p:nvCxnSpPr>
        <p:spPr>
          <a:xfrm flipH="1" rot="10800000">
            <a:off x="1456920" y="980640"/>
            <a:ext cx="8640" cy="2405520"/>
          </a:xfrm>
          <a:prstGeom prst="curvedConnector3">
            <a:avLst>
              <a:gd name="adj1" fmla="val -2452173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25" name="Curved Connector 44"/>
          <p:cNvCxnSpPr>
            <a:stCxn id="112" idx="2"/>
            <a:endCxn id="120" idx="2"/>
          </p:cNvCxnSpPr>
          <p:nvPr/>
        </p:nvCxnSpPr>
        <p:spPr>
          <a:xfrm rot="10800000">
            <a:off x="1457280" y="3385800"/>
            <a:ext cx="360" cy="2405520"/>
          </a:xfrm>
          <a:prstGeom prst="curvedConnector3">
            <a:avLst>
              <a:gd name="adj1" fmla="val -56200000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26" name="Curved Connector 47"/>
          <p:cNvCxnSpPr/>
          <p:nvPr/>
        </p:nvCxnSpPr>
        <p:spPr>
          <a:xfrm flipH="1" flipV="1" rot="5400000">
            <a:off x="2810520" y="2179440"/>
            <a:ext cx="2405520" cy="8640"/>
          </a:xfrm>
          <a:prstGeom prst="curvedConnector3">
            <a:avLst>
              <a:gd name="adj1" fmla="val 24996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27" name="Curved Connector 48"/>
          <p:cNvCxnSpPr/>
          <p:nvPr/>
        </p:nvCxnSpPr>
        <p:spPr>
          <a:xfrm flipV="1" rot="16200000">
            <a:off x="2813040" y="4582080"/>
            <a:ext cx="2405160" cy="12960"/>
          </a:xfrm>
          <a:prstGeom prst="curvedConnector3">
            <a:avLst>
              <a:gd name="adj1" fmla="val 25000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28" name="Curved Connector 50"/>
          <p:cNvCxnSpPr/>
          <p:nvPr/>
        </p:nvCxnSpPr>
        <p:spPr>
          <a:xfrm flipH="1" flipV="1" rot="5400000">
            <a:off x="5384520" y="2136600"/>
            <a:ext cx="2405520" cy="8640"/>
          </a:xfrm>
          <a:prstGeom prst="curvedConnector3">
            <a:avLst>
              <a:gd name="adj1" fmla="val 24996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29" name="Curved Connector 51"/>
          <p:cNvCxnSpPr/>
          <p:nvPr/>
        </p:nvCxnSpPr>
        <p:spPr>
          <a:xfrm flipV="1" rot="16200000">
            <a:off x="5387400" y="4539240"/>
            <a:ext cx="2405160" cy="13320"/>
          </a:xfrm>
          <a:prstGeom prst="curvedConnector3">
            <a:avLst>
              <a:gd name="adj1" fmla="val 25000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30" name="Curved Connector 52"/>
          <p:cNvCxnSpPr/>
          <p:nvPr/>
        </p:nvCxnSpPr>
        <p:spPr>
          <a:xfrm flipH="1" flipV="1" rot="5400000">
            <a:off x="7936560" y="2179440"/>
            <a:ext cx="2405520" cy="8640"/>
          </a:xfrm>
          <a:prstGeom prst="curvedConnector3">
            <a:avLst>
              <a:gd name="adj1" fmla="val 24996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31" name="Curved Connector 60"/>
          <p:cNvCxnSpPr/>
          <p:nvPr/>
        </p:nvCxnSpPr>
        <p:spPr>
          <a:xfrm flipV="1" rot="16200000">
            <a:off x="7939080" y="4582080"/>
            <a:ext cx="2405160" cy="12960"/>
          </a:xfrm>
          <a:prstGeom prst="curvedConnector3">
            <a:avLst>
              <a:gd name="adj1" fmla="val 25000"/>
            </a:avLst>
          </a:prstGeom>
          <a:ln w="1905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32" name="Straight Arrow Connector 61"/>
          <p:cNvCxnSpPr>
            <a:stCxn id="116" idx="6"/>
            <a:endCxn id="117" idx="2"/>
          </p:cNvCxnSpPr>
          <p:nvPr/>
        </p:nvCxnSpPr>
        <p:spPr>
          <a:xfrm>
            <a:off x="2836800" y="981000"/>
            <a:ext cx="118548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33" name="Straight Arrow Connector 62"/>
          <p:cNvCxnSpPr>
            <a:stCxn id="117" idx="6"/>
            <a:endCxn id="118" idx="2"/>
          </p:cNvCxnSpPr>
          <p:nvPr/>
        </p:nvCxnSpPr>
        <p:spPr>
          <a:xfrm>
            <a:off x="5393160" y="981000"/>
            <a:ext cx="119340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34" name="Straight Arrow Connector 63"/>
          <p:cNvCxnSpPr>
            <a:stCxn id="118" idx="6"/>
            <a:endCxn id="119" idx="2"/>
          </p:cNvCxnSpPr>
          <p:nvPr/>
        </p:nvCxnSpPr>
        <p:spPr>
          <a:xfrm>
            <a:off x="7957440" y="981000"/>
            <a:ext cx="119124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35" name="Straight Arrow Connector 64"/>
          <p:cNvCxnSpPr>
            <a:stCxn id="120" idx="6"/>
            <a:endCxn id="121" idx="2"/>
          </p:cNvCxnSpPr>
          <p:nvPr/>
        </p:nvCxnSpPr>
        <p:spPr>
          <a:xfrm>
            <a:off x="2828520" y="3386160"/>
            <a:ext cx="119376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36" name="Straight Arrow Connector 65"/>
          <p:cNvCxnSpPr>
            <a:stCxn id="112" idx="7"/>
            <a:endCxn id="121" idx="3"/>
          </p:cNvCxnSpPr>
          <p:nvPr/>
        </p:nvCxnSpPr>
        <p:spPr>
          <a:xfrm flipV="1">
            <a:off x="2628000" y="3871080"/>
            <a:ext cx="1594800" cy="1435320"/>
          </a:xfrm>
          <a:prstGeom prst="straightConnector1">
            <a:avLst/>
          </a:prstGeom>
          <a:ln w="34925">
            <a:solidFill>
              <a:srgbClr val="0070c0"/>
            </a:solidFill>
            <a:tailEnd len="med" type="triangle" w="med"/>
          </a:ln>
        </p:spPr>
      </p:cxnSp>
      <p:cxnSp>
        <p:nvCxnSpPr>
          <p:cNvPr id="137" name="Straight Arrow Connector 67"/>
          <p:cNvCxnSpPr>
            <a:stCxn id="114" idx="6"/>
            <a:endCxn id="115" idx="2"/>
          </p:cNvCxnSpPr>
          <p:nvPr/>
        </p:nvCxnSpPr>
        <p:spPr>
          <a:xfrm>
            <a:off x="7957440" y="5791320"/>
            <a:ext cx="119376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38" name="Straight Arrow Connector 68"/>
          <p:cNvCxnSpPr>
            <a:stCxn id="113" idx="6"/>
            <a:endCxn id="114" idx="2"/>
          </p:cNvCxnSpPr>
          <p:nvPr/>
        </p:nvCxnSpPr>
        <p:spPr>
          <a:xfrm>
            <a:off x="5393160" y="5791320"/>
            <a:ext cx="119340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39" name="Straight Arrow Connector 70"/>
          <p:cNvCxnSpPr>
            <a:stCxn id="112" idx="6"/>
            <a:endCxn id="113" idx="2"/>
          </p:cNvCxnSpPr>
          <p:nvPr/>
        </p:nvCxnSpPr>
        <p:spPr>
          <a:xfrm>
            <a:off x="2828520" y="5791320"/>
            <a:ext cx="119376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40" name="Straight Arrow Connector 71"/>
          <p:cNvCxnSpPr>
            <a:stCxn id="122" idx="6"/>
            <a:endCxn id="123" idx="2"/>
          </p:cNvCxnSpPr>
          <p:nvPr/>
        </p:nvCxnSpPr>
        <p:spPr>
          <a:xfrm>
            <a:off x="7957440" y="3386160"/>
            <a:ext cx="119124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41" name="Straight Arrow Connector 73"/>
          <p:cNvCxnSpPr>
            <a:stCxn id="121" idx="6"/>
            <a:endCxn id="122" idx="2"/>
          </p:cNvCxnSpPr>
          <p:nvPr/>
        </p:nvCxnSpPr>
        <p:spPr>
          <a:xfrm>
            <a:off x="5393160" y="3386160"/>
            <a:ext cx="1193400" cy="36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42" name="Straight Arrow Connector 101"/>
          <p:cNvCxnSpPr>
            <a:stCxn id="120" idx="6"/>
            <a:endCxn id="117" idx="2"/>
          </p:cNvCxnSpPr>
          <p:nvPr/>
        </p:nvCxnSpPr>
        <p:spPr>
          <a:xfrm flipV="1">
            <a:off x="2828520" y="981000"/>
            <a:ext cx="1193760" cy="240552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  <p:cxnSp>
        <p:nvCxnSpPr>
          <p:cNvPr id="143" name="Straight Arrow Connector 102"/>
          <p:cNvCxnSpPr>
            <a:stCxn id="113" idx="7"/>
            <a:endCxn id="122" idx="3"/>
          </p:cNvCxnSpPr>
          <p:nvPr/>
        </p:nvCxnSpPr>
        <p:spPr>
          <a:xfrm flipV="1">
            <a:off x="5192640" y="3871080"/>
            <a:ext cx="1594440" cy="1435320"/>
          </a:xfrm>
          <a:prstGeom prst="straightConnector1">
            <a:avLst/>
          </a:prstGeom>
          <a:ln w="34925">
            <a:solidFill>
              <a:srgbClr val="ff0000"/>
            </a:solidFill>
            <a:tailEnd len="med" type="triangle" w="med"/>
          </a:ln>
        </p:spPr>
      </p:cxnSp>
      <p:cxnSp>
        <p:nvCxnSpPr>
          <p:cNvPr id="144" name="Straight Arrow Connector 104"/>
          <p:cNvCxnSpPr>
            <a:stCxn id="121" idx="7"/>
            <a:endCxn id="118" idx="3"/>
          </p:cNvCxnSpPr>
          <p:nvPr/>
        </p:nvCxnSpPr>
        <p:spPr>
          <a:xfrm flipV="1">
            <a:off x="5192640" y="1465920"/>
            <a:ext cx="1594440" cy="1435320"/>
          </a:xfrm>
          <a:prstGeom prst="straightConnector1">
            <a:avLst/>
          </a:prstGeom>
          <a:ln w="34925">
            <a:solidFill>
              <a:srgbClr val="0070c0"/>
            </a:solidFill>
            <a:tailEnd len="med" type="triangle" w="med"/>
          </a:ln>
        </p:spPr>
      </p:cxnSp>
      <p:cxnSp>
        <p:nvCxnSpPr>
          <p:cNvPr id="145" name="Straight Arrow Connector 107"/>
          <p:cNvCxnSpPr>
            <a:stCxn id="122" idx="7"/>
            <a:endCxn id="119" idx="3"/>
          </p:cNvCxnSpPr>
          <p:nvPr/>
        </p:nvCxnSpPr>
        <p:spPr>
          <a:xfrm flipV="1">
            <a:off x="7756920" y="1465920"/>
            <a:ext cx="1592280" cy="1435320"/>
          </a:xfrm>
          <a:prstGeom prst="straightConnector1">
            <a:avLst/>
          </a:prstGeom>
          <a:ln w="34925">
            <a:solidFill>
              <a:srgbClr val="ff0000"/>
            </a:solidFill>
            <a:tailEnd len="med" type="triangle" w="med"/>
          </a:ln>
        </p:spPr>
      </p:cxnSp>
      <p:cxnSp>
        <p:nvCxnSpPr>
          <p:cNvPr id="146" name="Straight Arrow Connector 110"/>
          <p:cNvCxnSpPr>
            <a:stCxn id="114" idx="6"/>
            <a:endCxn id="123" idx="2"/>
          </p:cNvCxnSpPr>
          <p:nvPr/>
        </p:nvCxnSpPr>
        <p:spPr>
          <a:xfrm flipV="1">
            <a:off x="7957440" y="3386160"/>
            <a:ext cx="1191240" cy="2405520"/>
          </a:xfrm>
          <a:prstGeom prst="straightConnector1">
            <a:avLst/>
          </a:prstGeom>
          <a:ln w="1905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137"/>
          <p:cNvGrpSpPr/>
          <p:nvPr/>
        </p:nvGrpSpPr>
        <p:grpSpPr>
          <a:xfrm>
            <a:off x="25200" y="1399680"/>
            <a:ext cx="12141000" cy="4058640"/>
            <a:chOff x="25200" y="1399680"/>
            <a:chExt cx="12141000" cy="4058640"/>
          </a:xfrm>
        </p:grpSpPr>
        <p:sp>
          <p:nvSpPr>
            <p:cNvPr id="148" name="Rectangle 3"/>
            <p:cNvSpPr/>
            <p:nvPr/>
          </p:nvSpPr>
          <p:spPr>
            <a:xfrm>
              <a:off x="4244760" y="407304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O1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Rectangle 4"/>
            <p:cNvSpPr/>
            <p:nvPr/>
          </p:nvSpPr>
          <p:spPr>
            <a:xfrm>
              <a:off x="5014080" y="407196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O2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0" name="Rectangle 5"/>
            <p:cNvSpPr/>
            <p:nvPr/>
          </p:nvSpPr>
          <p:spPr>
            <a:xfrm>
              <a:off x="5787360" y="406692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O3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Oval 6"/>
            <p:cNvSpPr/>
            <p:nvPr/>
          </p:nvSpPr>
          <p:spPr>
            <a:xfrm>
              <a:off x="5443560" y="1858320"/>
              <a:ext cx="1293480" cy="12934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rIns="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Openness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52" name="Straight Arrow Connector 7"/>
            <p:cNvCxnSpPr>
              <a:stCxn id="151" idx="4"/>
              <a:endCxn id="148" idx="0"/>
            </p:cNvCxnSpPr>
            <p:nvPr/>
          </p:nvCxnSpPr>
          <p:spPr>
            <a:xfrm flipH="1">
              <a:off x="4547520" y="3151800"/>
              <a:ext cx="1543320" cy="92160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53" name="Straight Arrow Connector 13"/>
            <p:cNvCxnSpPr>
              <a:stCxn id="151" idx="4"/>
              <a:endCxn id="149" idx="0"/>
            </p:cNvCxnSpPr>
            <p:nvPr/>
          </p:nvCxnSpPr>
          <p:spPr>
            <a:xfrm flipH="1">
              <a:off x="5316840" y="3151800"/>
              <a:ext cx="774000" cy="9205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54" name="Straight Arrow Connector 14"/>
            <p:cNvCxnSpPr>
              <a:stCxn id="151" idx="4"/>
              <a:endCxn id="150" idx="0"/>
            </p:cNvCxnSpPr>
            <p:nvPr/>
          </p:nvCxnSpPr>
          <p:spPr>
            <a:xfrm flipH="1">
              <a:off x="6090120" y="3151800"/>
              <a:ext cx="720" cy="91548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55" name="Oval 58"/>
            <p:cNvSpPr/>
            <p:nvPr/>
          </p:nvSpPr>
          <p:spPr>
            <a:xfrm>
              <a:off x="42786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O1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56" name="Straight Arrow Connector 60"/>
            <p:cNvCxnSpPr>
              <a:stCxn id="155" idx="0"/>
              <a:endCxn id="148" idx="2"/>
            </p:cNvCxnSpPr>
            <p:nvPr/>
          </p:nvCxnSpPr>
          <p:spPr>
            <a:xfrm flipH="1" flipV="1">
              <a:off x="4547520" y="4678920"/>
              <a:ext cx="1080" cy="240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57" name="Oval 65"/>
            <p:cNvSpPr/>
            <p:nvPr/>
          </p:nvSpPr>
          <p:spPr>
            <a:xfrm>
              <a:off x="58212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O3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58" name="Straight Arrow Connector 66"/>
            <p:cNvCxnSpPr>
              <a:stCxn id="157" idx="0"/>
              <a:endCxn id="150" idx="2"/>
            </p:cNvCxnSpPr>
            <p:nvPr/>
          </p:nvCxnSpPr>
          <p:spPr>
            <a:xfrm flipH="1" flipV="1">
              <a:off x="6090120" y="4672800"/>
              <a:ext cx="1080" cy="246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59" name="Oval 67"/>
            <p:cNvSpPr/>
            <p:nvPr/>
          </p:nvSpPr>
          <p:spPr>
            <a:xfrm>
              <a:off x="504324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O2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60" name="Straight Arrow Connector 68"/>
            <p:cNvCxnSpPr>
              <a:stCxn id="159" idx="0"/>
              <a:endCxn id="149" idx="2"/>
            </p:cNvCxnSpPr>
            <p:nvPr/>
          </p:nvCxnSpPr>
          <p:spPr>
            <a:xfrm flipV="1">
              <a:off x="5312880" y="4677840"/>
              <a:ext cx="4320" cy="2419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61" name="Rectangle 40"/>
            <p:cNvSpPr/>
            <p:nvPr/>
          </p:nvSpPr>
          <p:spPr>
            <a:xfrm>
              <a:off x="6564240" y="406692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O4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Rectangle 41"/>
            <p:cNvSpPr/>
            <p:nvPr/>
          </p:nvSpPr>
          <p:spPr>
            <a:xfrm>
              <a:off x="7329960" y="407304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O5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Oval 42"/>
            <p:cNvSpPr/>
            <p:nvPr/>
          </p:nvSpPr>
          <p:spPr>
            <a:xfrm>
              <a:off x="73620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O5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64" name="Straight Arrow Connector 43"/>
            <p:cNvCxnSpPr>
              <a:stCxn id="163" idx="0"/>
              <a:endCxn id="162" idx="2"/>
            </p:cNvCxnSpPr>
            <p:nvPr/>
          </p:nvCxnSpPr>
          <p:spPr>
            <a:xfrm flipV="1">
              <a:off x="7631640" y="4678920"/>
              <a:ext cx="1440" cy="240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65" name="Oval 44"/>
            <p:cNvSpPr/>
            <p:nvPr/>
          </p:nvSpPr>
          <p:spPr>
            <a:xfrm>
              <a:off x="65988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O4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66" name="Straight Arrow Connector 45"/>
            <p:cNvCxnSpPr>
              <a:stCxn id="165" idx="0"/>
              <a:endCxn id="161" idx="2"/>
            </p:cNvCxnSpPr>
            <p:nvPr/>
          </p:nvCxnSpPr>
          <p:spPr>
            <a:xfrm flipH="1" flipV="1">
              <a:off x="6867000" y="4672800"/>
              <a:ext cx="1800" cy="246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67" name="Straight Arrow Connector 46"/>
            <p:cNvCxnSpPr>
              <a:stCxn id="151" idx="4"/>
              <a:endCxn id="161" idx="0"/>
            </p:cNvCxnSpPr>
            <p:nvPr/>
          </p:nvCxnSpPr>
          <p:spPr>
            <a:xfrm>
              <a:off x="6090480" y="3151800"/>
              <a:ext cx="776880" cy="91548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68" name="Straight Arrow Connector 47"/>
            <p:cNvCxnSpPr>
              <a:stCxn id="151" idx="4"/>
              <a:endCxn id="162" idx="0"/>
            </p:cNvCxnSpPr>
            <p:nvPr/>
          </p:nvCxnSpPr>
          <p:spPr>
            <a:xfrm>
              <a:off x="6090480" y="3151800"/>
              <a:ext cx="1542600" cy="92160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69" name="Rectangle 83"/>
            <p:cNvSpPr/>
            <p:nvPr/>
          </p:nvSpPr>
          <p:spPr>
            <a:xfrm>
              <a:off x="25200" y="407304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E1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Rectangle 84"/>
            <p:cNvSpPr/>
            <p:nvPr/>
          </p:nvSpPr>
          <p:spPr>
            <a:xfrm>
              <a:off x="794880" y="407196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E2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Rectangle 87"/>
            <p:cNvSpPr/>
            <p:nvPr/>
          </p:nvSpPr>
          <p:spPr>
            <a:xfrm>
              <a:off x="1567800" y="406692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E3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Oval 88"/>
            <p:cNvSpPr/>
            <p:nvPr/>
          </p:nvSpPr>
          <p:spPr>
            <a:xfrm>
              <a:off x="1224360" y="1858320"/>
              <a:ext cx="1293480" cy="12934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rIns="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Extraversion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73" name="Straight Arrow Connector 89"/>
            <p:cNvCxnSpPr>
              <a:stCxn id="172" idx="4"/>
              <a:endCxn id="169" idx="0"/>
            </p:cNvCxnSpPr>
            <p:nvPr/>
          </p:nvCxnSpPr>
          <p:spPr>
            <a:xfrm flipH="1">
              <a:off x="327960" y="3151800"/>
              <a:ext cx="1543680" cy="92160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74" name="Straight Arrow Connector 90"/>
            <p:cNvCxnSpPr>
              <a:stCxn id="172" idx="4"/>
              <a:endCxn id="170" idx="0"/>
            </p:cNvCxnSpPr>
            <p:nvPr/>
          </p:nvCxnSpPr>
          <p:spPr>
            <a:xfrm flipH="1">
              <a:off x="1097640" y="3151800"/>
              <a:ext cx="774000" cy="9205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75" name="Straight Arrow Connector 93"/>
            <p:cNvCxnSpPr>
              <a:stCxn id="172" idx="4"/>
              <a:endCxn id="171" idx="0"/>
            </p:cNvCxnSpPr>
            <p:nvPr/>
          </p:nvCxnSpPr>
          <p:spPr>
            <a:xfrm flipH="1">
              <a:off x="1870560" y="3151800"/>
              <a:ext cx="1080" cy="91548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76" name="Oval 94"/>
            <p:cNvSpPr/>
            <p:nvPr/>
          </p:nvSpPr>
          <p:spPr>
            <a:xfrm>
              <a:off x="5904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E1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77" name="Straight Arrow Connector 95"/>
            <p:cNvCxnSpPr>
              <a:stCxn id="176" idx="0"/>
              <a:endCxn id="169" idx="2"/>
            </p:cNvCxnSpPr>
            <p:nvPr/>
          </p:nvCxnSpPr>
          <p:spPr>
            <a:xfrm flipH="1" flipV="1">
              <a:off x="327960" y="4678920"/>
              <a:ext cx="1080" cy="240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78" name="Oval 96"/>
            <p:cNvSpPr/>
            <p:nvPr/>
          </p:nvSpPr>
          <p:spPr>
            <a:xfrm>
              <a:off x="160164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E3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79" name="Straight Arrow Connector 97"/>
            <p:cNvCxnSpPr>
              <a:stCxn id="178" idx="0"/>
              <a:endCxn id="171" idx="2"/>
            </p:cNvCxnSpPr>
            <p:nvPr/>
          </p:nvCxnSpPr>
          <p:spPr>
            <a:xfrm flipH="1" flipV="1">
              <a:off x="1870560" y="4672800"/>
              <a:ext cx="1080" cy="246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80" name="Oval 98"/>
            <p:cNvSpPr/>
            <p:nvPr/>
          </p:nvSpPr>
          <p:spPr>
            <a:xfrm>
              <a:off x="82368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E2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1" name="Straight Arrow Connector 99"/>
            <p:cNvCxnSpPr>
              <a:stCxn id="180" idx="0"/>
              <a:endCxn id="170" idx="2"/>
            </p:cNvCxnSpPr>
            <p:nvPr/>
          </p:nvCxnSpPr>
          <p:spPr>
            <a:xfrm flipV="1">
              <a:off x="1093320" y="4677840"/>
              <a:ext cx="4680" cy="2419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82" name="Rectangle 100"/>
            <p:cNvSpPr/>
            <p:nvPr/>
          </p:nvSpPr>
          <p:spPr>
            <a:xfrm>
              <a:off x="2344680" y="406692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E4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Rectangle 101"/>
            <p:cNvSpPr/>
            <p:nvPr/>
          </p:nvSpPr>
          <p:spPr>
            <a:xfrm>
              <a:off x="3110760" y="407304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E5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Oval 102"/>
            <p:cNvSpPr/>
            <p:nvPr/>
          </p:nvSpPr>
          <p:spPr>
            <a:xfrm>
              <a:off x="314244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E5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5" name="Straight Arrow Connector 103"/>
            <p:cNvCxnSpPr>
              <a:stCxn id="184" idx="0"/>
              <a:endCxn id="183" idx="2"/>
            </p:cNvCxnSpPr>
            <p:nvPr/>
          </p:nvCxnSpPr>
          <p:spPr>
            <a:xfrm flipV="1">
              <a:off x="3412080" y="4678920"/>
              <a:ext cx="1800" cy="240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86" name="Oval 104"/>
            <p:cNvSpPr/>
            <p:nvPr/>
          </p:nvSpPr>
          <p:spPr>
            <a:xfrm>
              <a:off x="23796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E4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7" name="Straight Arrow Connector 105"/>
            <p:cNvCxnSpPr>
              <a:stCxn id="186" idx="0"/>
              <a:endCxn id="182" idx="2"/>
            </p:cNvCxnSpPr>
            <p:nvPr/>
          </p:nvCxnSpPr>
          <p:spPr>
            <a:xfrm flipH="1" flipV="1">
              <a:off x="2647440" y="4672800"/>
              <a:ext cx="2160" cy="246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88" name="Straight Arrow Connector 106"/>
            <p:cNvCxnSpPr>
              <a:stCxn id="172" idx="4"/>
              <a:endCxn id="182" idx="0"/>
            </p:cNvCxnSpPr>
            <p:nvPr/>
          </p:nvCxnSpPr>
          <p:spPr>
            <a:xfrm>
              <a:off x="1871280" y="3151800"/>
              <a:ext cx="776520" cy="91548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89" name="Straight Arrow Connector 107"/>
            <p:cNvCxnSpPr>
              <a:stCxn id="172" idx="4"/>
              <a:endCxn id="183" idx="0"/>
            </p:cNvCxnSpPr>
            <p:nvPr/>
          </p:nvCxnSpPr>
          <p:spPr>
            <a:xfrm>
              <a:off x="1871280" y="3151800"/>
              <a:ext cx="1542600" cy="92160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90" name="Rectangle 109"/>
            <p:cNvSpPr/>
            <p:nvPr/>
          </p:nvSpPr>
          <p:spPr>
            <a:xfrm>
              <a:off x="8475120" y="407304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N1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Rectangle 110"/>
            <p:cNvSpPr/>
            <p:nvPr/>
          </p:nvSpPr>
          <p:spPr>
            <a:xfrm>
              <a:off x="9244440" y="407196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N2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Rectangle 111"/>
            <p:cNvSpPr/>
            <p:nvPr/>
          </p:nvSpPr>
          <p:spPr>
            <a:xfrm>
              <a:off x="10017720" y="406692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N3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" name="Oval 112"/>
            <p:cNvSpPr/>
            <p:nvPr/>
          </p:nvSpPr>
          <p:spPr>
            <a:xfrm>
              <a:off x="9673920" y="1858320"/>
              <a:ext cx="1293480" cy="129348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0" rIns="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Neuroticism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94" name="Straight Arrow Connector 113"/>
            <p:cNvCxnSpPr>
              <a:stCxn id="193" idx="4"/>
              <a:endCxn id="190" idx="0"/>
            </p:cNvCxnSpPr>
            <p:nvPr/>
          </p:nvCxnSpPr>
          <p:spPr>
            <a:xfrm flipH="1">
              <a:off x="8777880" y="3151800"/>
              <a:ext cx="1543320" cy="92160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95" name="Straight Arrow Connector 114"/>
            <p:cNvCxnSpPr>
              <a:stCxn id="193" idx="4"/>
              <a:endCxn id="191" idx="0"/>
            </p:cNvCxnSpPr>
            <p:nvPr/>
          </p:nvCxnSpPr>
          <p:spPr>
            <a:xfrm flipH="1">
              <a:off x="9547200" y="3151800"/>
              <a:ext cx="774000" cy="9205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196" name="Straight Arrow Connector 115"/>
            <p:cNvCxnSpPr>
              <a:stCxn id="193" idx="4"/>
              <a:endCxn id="192" idx="0"/>
            </p:cNvCxnSpPr>
            <p:nvPr/>
          </p:nvCxnSpPr>
          <p:spPr>
            <a:xfrm flipH="1">
              <a:off x="10320480" y="3151800"/>
              <a:ext cx="720" cy="91548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97" name="Oval 116"/>
            <p:cNvSpPr/>
            <p:nvPr/>
          </p:nvSpPr>
          <p:spPr>
            <a:xfrm>
              <a:off x="85086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N1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98" name="Straight Arrow Connector 117"/>
            <p:cNvCxnSpPr>
              <a:stCxn id="197" idx="0"/>
              <a:endCxn id="190" idx="2"/>
            </p:cNvCxnSpPr>
            <p:nvPr/>
          </p:nvCxnSpPr>
          <p:spPr>
            <a:xfrm flipH="1" flipV="1">
              <a:off x="8777880" y="4678920"/>
              <a:ext cx="720" cy="240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199" name="Oval 118"/>
            <p:cNvSpPr/>
            <p:nvPr/>
          </p:nvSpPr>
          <p:spPr>
            <a:xfrm>
              <a:off x="100512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N3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0" name="Straight Arrow Connector 119"/>
            <p:cNvCxnSpPr>
              <a:stCxn id="199" idx="0"/>
              <a:endCxn id="192" idx="2"/>
            </p:cNvCxnSpPr>
            <p:nvPr/>
          </p:nvCxnSpPr>
          <p:spPr>
            <a:xfrm flipH="1" flipV="1">
              <a:off x="10320480" y="4672800"/>
              <a:ext cx="720" cy="246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01" name="Oval 120"/>
            <p:cNvSpPr/>
            <p:nvPr/>
          </p:nvSpPr>
          <p:spPr>
            <a:xfrm>
              <a:off x="92736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N2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2" name="Straight Arrow Connector 121"/>
            <p:cNvCxnSpPr>
              <a:stCxn id="201" idx="0"/>
              <a:endCxn id="191" idx="2"/>
            </p:cNvCxnSpPr>
            <p:nvPr/>
          </p:nvCxnSpPr>
          <p:spPr>
            <a:xfrm flipV="1">
              <a:off x="9543240" y="4677840"/>
              <a:ext cx="4320" cy="2419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03" name="Rectangle 122"/>
            <p:cNvSpPr/>
            <p:nvPr/>
          </p:nvSpPr>
          <p:spPr>
            <a:xfrm>
              <a:off x="10794240" y="406692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N4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Rectangle 123"/>
            <p:cNvSpPr/>
            <p:nvPr/>
          </p:nvSpPr>
          <p:spPr>
            <a:xfrm>
              <a:off x="11560320" y="4073040"/>
              <a:ext cx="605880" cy="6058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N5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" name="Oval 124"/>
            <p:cNvSpPr/>
            <p:nvPr/>
          </p:nvSpPr>
          <p:spPr>
            <a:xfrm>
              <a:off x="1159200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N5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6" name="Straight Arrow Connector 125"/>
            <p:cNvCxnSpPr>
              <a:stCxn id="205" idx="0"/>
              <a:endCxn id="204" idx="2"/>
            </p:cNvCxnSpPr>
            <p:nvPr/>
          </p:nvCxnSpPr>
          <p:spPr>
            <a:xfrm flipV="1">
              <a:off x="11861640" y="4678920"/>
              <a:ext cx="1800" cy="240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07" name="Oval 126"/>
            <p:cNvSpPr/>
            <p:nvPr/>
          </p:nvSpPr>
          <p:spPr>
            <a:xfrm>
              <a:off x="10829160" y="4919400"/>
              <a:ext cx="538920" cy="5389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100" spc="-1" strike="noStrike" baseline="-25000">
                  <a:solidFill>
                    <a:schemeClr val="dk1"/>
                  </a:solidFill>
                  <a:latin typeface="Times New Roman"/>
                </a:rPr>
                <a:t>N4</a:t>
              </a:r>
              <a:endParaRPr b="0" lang="en-DK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08" name="Straight Arrow Connector 127"/>
            <p:cNvCxnSpPr>
              <a:stCxn id="207" idx="0"/>
              <a:endCxn id="203" idx="2"/>
            </p:cNvCxnSpPr>
            <p:nvPr/>
          </p:nvCxnSpPr>
          <p:spPr>
            <a:xfrm flipH="1" flipV="1">
              <a:off x="11097000" y="4672800"/>
              <a:ext cx="2160" cy="2469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209" name="Straight Arrow Connector 128"/>
            <p:cNvCxnSpPr>
              <a:stCxn id="193" idx="4"/>
              <a:endCxn id="203" idx="0"/>
            </p:cNvCxnSpPr>
            <p:nvPr/>
          </p:nvCxnSpPr>
          <p:spPr>
            <a:xfrm>
              <a:off x="10320840" y="3151800"/>
              <a:ext cx="776520" cy="91548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210" name="Straight Arrow Connector 129"/>
            <p:cNvCxnSpPr>
              <a:stCxn id="193" idx="4"/>
              <a:endCxn id="204" idx="0"/>
            </p:cNvCxnSpPr>
            <p:nvPr/>
          </p:nvCxnSpPr>
          <p:spPr>
            <a:xfrm>
              <a:off x="10320840" y="3151800"/>
              <a:ext cx="1542600" cy="92160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cxnSp>
          <p:nvCxnSpPr>
            <p:cNvPr id="211" name="Connector: Curved 133"/>
            <p:cNvCxnSpPr>
              <a:stCxn id="172" idx="7"/>
              <a:endCxn id="151" idx="1"/>
            </p:cNvCxnSpPr>
            <p:nvPr/>
          </p:nvCxnSpPr>
          <p:spPr>
            <a:xfrm>
              <a:off x="2328480" y="2047680"/>
              <a:ext cx="3304800" cy="360"/>
            </a:xfrm>
            <a:prstGeom prst="curvedConnector2">
              <a:avLst/>
            </a:prstGeom>
            <a:ln w="19050">
              <a:solidFill>
                <a:srgbClr val="000000"/>
              </a:solidFill>
              <a:headEnd len="med" type="triangle" w="med"/>
              <a:tailEnd len="med" type="triangle" w="med"/>
            </a:ln>
          </p:spPr>
        </p:cxnSp>
        <p:cxnSp>
          <p:nvCxnSpPr>
            <p:cNvPr id="212" name="Connector: Curved 135"/>
            <p:cNvCxnSpPr>
              <a:stCxn id="151" idx="7"/>
              <a:endCxn id="193" idx="1"/>
            </p:cNvCxnSpPr>
            <p:nvPr/>
          </p:nvCxnSpPr>
          <p:spPr>
            <a:xfrm>
              <a:off x="6547680" y="2047680"/>
              <a:ext cx="3315960" cy="360"/>
            </a:xfrm>
            <a:prstGeom prst="curvedConnector2">
              <a:avLst/>
            </a:prstGeom>
            <a:ln w="19050">
              <a:solidFill>
                <a:srgbClr val="000000"/>
              </a:solidFill>
              <a:headEnd len="med" type="triangle" w="med"/>
              <a:tailEnd len="med" type="triangle" w="med"/>
            </a:ln>
          </p:spPr>
        </p:cxnSp>
        <p:sp>
          <p:nvSpPr>
            <p:cNvPr id="213" name="Arc 136"/>
            <p:cNvSpPr/>
            <p:nvPr/>
          </p:nvSpPr>
          <p:spPr>
            <a:xfrm>
              <a:off x="1865880" y="1399680"/>
              <a:ext cx="8449200" cy="914040"/>
            </a:xfrm>
            <a:prstGeom prst="arc">
              <a:avLst>
                <a:gd name="adj1" fmla="val 10806949"/>
                <a:gd name="adj2" fmla="val 21593493"/>
              </a:avLst>
            </a:prstGeom>
            <a:noFill/>
            <a:ln w="19050">
              <a:solidFill>
                <a:srgbClr val="000000"/>
              </a:solidFill>
              <a:headEnd len="med" type="triangle" w="med"/>
              <a:tailEnd len="med" type="triangle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54"/>
          <p:cNvSpPr/>
          <p:nvPr/>
        </p:nvSpPr>
        <p:spPr>
          <a:xfrm>
            <a:off x="5703840" y="5419080"/>
            <a:ext cx="1371240" cy="137124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Political Affiliation</a:t>
            </a:r>
            <a:endParaRPr b="0" lang="en-DK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5" name="Group 10"/>
          <p:cNvGrpSpPr/>
          <p:nvPr/>
        </p:nvGrpSpPr>
        <p:grpSpPr>
          <a:xfrm>
            <a:off x="877320" y="583200"/>
            <a:ext cx="3911400" cy="4874400"/>
            <a:chOff x="877320" y="583200"/>
            <a:chExt cx="3911400" cy="4874400"/>
          </a:xfrm>
        </p:grpSpPr>
        <p:grpSp>
          <p:nvGrpSpPr>
            <p:cNvPr id="216" name="Group 1"/>
            <p:cNvGrpSpPr/>
            <p:nvPr/>
          </p:nvGrpSpPr>
          <p:grpSpPr>
            <a:xfrm>
              <a:off x="877320" y="583200"/>
              <a:ext cx="3911400" cy="3849480"/>
              <a:chOff x="877320" y="583200"/>
              <a:chExt cx="3911400" cy="3849480"/>
            </a:xfrm>
          </p:grpSpPr>
          <p:sp>
            <p:nvSpPr>
              <p:cNvPr id="217" name="Rectangle 3"/>
              <p:cNvSpPr/>
              <p:nvPr/>
            </p:nvSpPr>
            <p:spPr>
              <a:xfrm>
                <a:off x="877320" y="3279960"/>
                <a:ext cx="1151640" cy="11516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meritP1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8" name="Rectangle 4"/>
              <p:cNvSpPr/>
              <p:nvPr/>
            </p:nvSpPr>
            <p:spPr>
              <a:xfrm>
                <a:off x="2257200" y="3281040"/>
                <a:ext cx="1151640" cy="11516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meritP2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9" name="Rectangle 5"/>
              <p:cNvSpPr/>
              <p:nvPr/>
            </p:nvSpPr>
            <p:spPr>
              <a:xfrm>
                <a:off x="3637080" y="3279960"/>
                <a:ext cx="1151640" cy="11516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meritP3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0" name="Oval 6"/>
              <p:cNvSpPr/>
              <p:nvPr/>
            </p:nvSpPr>
            <p:spPr>
              <a:xfrm>
                <a:off x="2067840" y="583200"/>
                <a:ext cx="1535760" cy="15357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Belief in Meritocracy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221" name="Straight Arrow Connector 7"/>
              <p:cNvCxnSpPr/>
              <p:nvPr/>
            </p:nvCxnSpPr>
            <p:spPr>
              <a:xfrm flipH="1">
                <a:off x="1453320" y="2119320"/>
                <a:ext cx="1382760" cy="116100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tailEnd len="med" type="triangle" w="med"/>
              </a:ln>
            </p:spPr>
          </p:cxnSp>
          <p:cxnSp>
            <p:nvCxnSpPr>
              <p:cNvPr id="222" name="Straight Arrow Connector 13"/>
              <p:cNvCxnSpPr/>
              <p:nvPr/>
            </p:nvCxnSpPr>
            <p:spPr>
              <a:xfrm flipH="1">
                <a:off x="2833200" y="2119320"/>
                <a:ext cx="2880" cy="116208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tailEnd len="med" type="triangle" w="med"/>
              </a:ln>
            </p:spPr>
          </p:cxnSp>
          <p:cxnSp>
            <p:nvCxnSpPr>
              <p:cNvPr id="223" name="Straight Arrow Connector 14"/>
              <p:cNvCxnSpPr/>
              <p:nvPr/>
            </p:nvCxnSpPr>
            <p:spPr>
              <a:xfrm>
                <a:off x="2835720" y="2119320"/>
                <a:ext cx="1377360" cy="116100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tailEnd len="med" type="triangle" w="med"/>
              </a:ln>
            </p:spPr>
          </p:cxnSp>
        </p:grpSp>
        <p:sp>
          <p:nvSpPr>
            <p:cNvPr id="224" name="Oval 58"/>
            <p:cNvSpPr/>
            <p:nvPr/>
          </p:nvSpPr>
          <p:spPr>
            <a:xfrm>
              <a:off x="1128240" y="4817880"/>
              <a:ext cx="639720" cy="6397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400" spc="-1" strike="noStrike" baseline="-25000">
                  <a:solidFill>
                    <a:schemeClr val="dk1"/>
                  </a:solidFill>
                  <a:latin typeface="Times New Roman"/>
                </a:rPr>
                <a:t>m1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5" name="Straight Arrow Connector 60"/>
            <p:cNvCxnSpPr>
              <a:stCxn id="224" idx="0"/>
              <a:endCxn id="217" idx="2"/>
            </p:cNvCxnSpPr>
            <p:nvPr/>
          </p:nvCxnSpPr>
          <p:spPr>
            <a:xfrm flipV="1">
              <a:off x="1448280" y="4431600"/>
              <a:ext cx="5040" cy="3866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26" name="Oval 65"/>
            <p:cNvSpPr/>
            <p:nvPr/>
          </p:nvSpPr>
          <p:spPr>
            <a:xfrm>
              <a:off x="3893040" y="4817880"/>
              <a:ext cx="639720" cy="6397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400" spc="-1" strike="noStrike" baseline="-25000">
                  <a:solidFill>
                    <a:schemeClr val="dk1"/>
                  </a:solidFill>
                  <a:latin typeface="Times New Roman"/>
                </a:rPr>
                <a:t>m3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7" name="Straight Arrow Connector 66"/>
            <p:cNvCxnSpPr>
              <a:stCxn id="226" idx="0"/>
              <a:endCxn id="219" idx="2"/>
            </p:cNvCxnSpPr>
            <p:nvPr/>
          </p:nvCxnSpPr>
          <p:spPr>
            <a:xfrm flipH="1" flipV="1">
              <a:off x="4212720" y="4431600"/>
              <a:ext cx="720" cy="3866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28" name="Oval 67"/>
            <p:cNvSpPr/>
            <p:nvPr/>
          </p:nvSpPr>
          <p:spPr>
            <a:xfrm>
              <a:off x="2515680" y="4817880"/>
              <a:ext cx="639720" cy="6397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400" spc="-1" strike="noStrike" baseline="-25000">
                  <a:solidFill>
                    <a:schemeClr val="dk1"/>
                  </a:solidFill>
                  <a:latin typeface="Times New Roman"/>
                </a:rPr>
                <a:t>m2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29" name="Straight Arrow Connector 68"/>
            <p:cNvCxnSpPr>
              <a:stCxn id="228" idx="0"/>
              <a:endCxn id="218" idx="2"/>
            </p:cNvCxnSpPr>
            <p:nvPr/>
          </p:nvCxnSpPr>
          <p:spPr>
            <a:xfrm flipH="1" flipV="1">
              <a:off x="2832840" y="4432680"/>
              <a:ext cx="3240" cy="38556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</p:grpSp>
      <p:grpSp>
        <p:nvGrpSpPr>
          <p:cNvPr id="230" name="Group 11"/>
          <p:cNvGrpSpPr/>
          <p:nvPr/>
        </p:nvGrpSpPr>
        <p:grpSpPr>
          <a:xfrm>
            <a:off x="8174520" y="100800"/>
            <a:ext cx="3911400" cy="4884480"/>
            <a:chOff x="8174520" y="100800"/>
            <a:chExt cx="3911400" cy="4884480"/>
          </a:xfrm>
        </p:grpSpPr>
        <p:grpSp>
          <p:nvGrpSpPr>
            <p:cNvPr id="231" name="Group 2"/>
            <p:cNvGrpSpPr/>
            <p:nvPr/>
          </p:nvGrpSpPr>
          <p:grpSpPr>
            <a:xfrm>
              <a:off x="8174520" y="100800"/>
              <a:ext cx="3911400" cy="3861000"/>
              <a:chOff x="8174520" y="100800"/>
              <a:chExt cx="3911400" cy="3861000"/>
            </a:xfrm>
          </p:grpSpPr>
          <p:sp>
            <p:nvSpPr>
              <p:cNvPr id="232" name="Rectangle 30"/>
              <p:cNvSpPr/>
              <p:nvPr/>
            </p:nvSpPr>
            <p:spPr>
              <a:xfrm>
                <a:off x="8174520" y="2809440"/>
                <a:ext cx="1151640" cy="11516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policyP1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3" name="Rectangle 31"/>
              <p:cNvSpPr/>
              <p:nvPr/>
            </p:nvSpPr>
            <p:spPr>
              <a:xfrm>
                <a:off x="9554400" y="2810160"/>
                <a:ext cx="1151640" cy="11516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policyP2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4" name="Rectangle 32"/>
              <p:cNvSpPr/>
              <p:nvPr/>
            </p:nvSpPr>
            <p:spPr>
              <a:xfrm>
                <a:off x="10934280" y="2809440"/>
                <a:ext cx="1151640" cy="11516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policyP3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5" name="Oval 33"/>
              <p:cNvSpPr/>
              <p:nvPr/>
            </p:nvSpPr>
            <p:spPr>
              <a:xfrm>
                <a:off x="9348840" y="100800"/>
                <a:ext cx="1535760" cy="153576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400" spc="-1" strike="noStrike">
                    <a:solidFill>
                      <a:schemeClr val="dk1"/>
                    </a:solidFill>
                    <a:latin typeface="Times New Roman"/>
                  </a:rPr>
                  <a:t>Policy Support</a:t>
                </a:r>
                <a:endParaRPr b="0" lang="en-DK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cxnSp>
            <p:nvCxnSpPr>
              <p:cNvPr id="236" name="Straight Arrow Connector 34"/>
              <p:cNvCxnSpPr/>
              <p:nvPr/>
            </p:nvCxnSpPr>
            <p:spPr>
              <a:xfrm flipH="1">
                <a:off x="8750520" y="1636920"/>
                <a:ext cx="1366560" cy="117252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tailEnd len="med" type="triangle" w="med"/>
              </a:ln>
            </p:spPr>
          </p:cxnSp>
          <p:cxnSp>
            <p:nvCxnSpPr>
              <p:cNvPr id="237" name="Straight Arrow Connector 35"/>
              <p:cNvCxnSpPr/>
              <p:nvPr/>
            </p:nvCxnSpPr>
            <p:spPr>
              <a:xfrm>
                <a:off x="10116720" y="1636920"/>
                <a:ext cx="13680" cy="117360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tailEnd len="med" type="triangle" w="med"/>
              </a:ln>
            </p:spPr>
          </p:cxnSp>
          <p:cxnSp>
            <p:nvCxnSpPr>
              <p:cNvPr id="238" name="Straight Arrow Connector 36"/>
              <p:cNvCxnSpPr/>
              <p:nvPr/>
            </p:nvCxnSpPr>
            <p:spPr>
              <a:xfrm>
                <a:off x="10116720" y="1636920"/>
                <a:ext cx="1393560" cy="117252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tailEnd len="med" type="triangle" w="med"/>
              </a:ln>
            </p:spPr>
          </p:cxnSp>
        </p:grpSp>
        <p:sp>
          <p:nvSpPr>
            <p:cNvPr id="239" name="Oval 69"/>
            <p:cNvSpPr/>
            <p:nvPr/>
          </p:nvSpPr>
          <p:spPr>
            <a:xfrm>
              <a:off x="8430480" y="4345560"/>
              <a:ext cx="639720" cy="6397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400" spc="-1" strike="noStrike" baseline="-25000">
                  <a:solidFill>
                    <a:schemeClr val="dk1"/>
                  </a:solidFill>
                  <a:latin typeface="Times New Roman"/>
                </a:rPr>
                <a:t>p1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40" name="Straight Arrow Connector 71"/>
            <p:cNvCxnSpPr>
              <a:stCxn id="239" idx="0"/>
              <a:endCxn id="232" idx="2"/>
            </p:cNvCxnSpPr>
            <p:nvPr/>
          </p:nvCxnSpPr>
          <p:spPr>
            <a:xfrm flipH="1" flipV="1">
              <a:off x="8750160" y="3961080"/>
              <a:ext cx="720" cy="384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41" name="Oval 72"/>
            <p:cNvSpPr/>
            <p:nvPr/>
          </p:nvSpPr>
          <p:spPr>
            <a:xfrm>
              <a:off x="9810360" y="4345560"/>
              <a:ext cx="639720" cy="6397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400" spc="-1" strike="noStrike" baseline="-25000">
                  <a:solidFill>
                    <a:schemeClr val="dk1"/>
                  </a:solidFill>
                  <a:latin typeface="Times New Roman"/>
                </a:rPr>
                <a:t>p2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42" name="Straight Arrow Connector 73"/>
            <p:cNvCxnSpPr>
              <a:stCxn id="241" idx="0"/>
              <a:endCxn id="233" idx="2"/>
            </p:cNvCxnSpPr>
            <p:nvPr/>
          </p:nvCxnSpPr>
          <p:spPr>
            <a:xfrm flipH="1" flipV="1">
              <a:off x="10130040" y="3961800"/>
              <a:ext cx="720" cy="38412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  <p:sp>
          <p:nvSpPr>
            <p:cNvPr id="243" name="Oval 74"/>
            <p:cNvSpPr/>
            <p:nvPr/>
          </p:nvSpPr>
          <p:spPr>
            <a:xfrm>
              <a:off x="11190240" y="4345560"/>
              <a:ext cx="639720" cy="63972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dk1"/>
                  </a:solidFill>
                  <a:latin typeface="Times New Roman"/>
                </a:rPr>
                <a:t>u</a:t>
              </a:r>
              <a:r>
                <a:rPr b="0" lang="en-US" sz="1400" spc="-1" strike="noStrike" baseline="-25000">
                  <a:solidFill>
                    <a:schemeClr val="dk1"/>
                  </a:solidFill>
                  <a:latin typeface="Times New Roman"/>
                </a:rPr>
                <a:t>p3</a:t>
              </a:r>
              <a:endParaRPr b="0" lang="en-DK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44" name="Straight Arrow Connector 75"/>
            <p:cNvCxnSpPr>
              <a:stCxn id="243" idx="0"/>
              <a:endCxn id="234" idx="2"/>
            </p:cNvCxnSpPr>
            <p:nvPr/>
          </p:nvCxnSpPr>
          <p:spPr>
            <a:xfrm flipH="1" flipV="1">
              <a:off x="11509920" y="3961080"/>
              <a:ext cx="720" cy="384840"/>
            </a:xfrm>
            <a:prstGeom prst="straightConnector1">
              <a:avLst/>
            </a:prstGeom>
            <a:ln w="19050">
              <a:solidFill>
                <a:srgbClr val="000000"/>
              </a:solidFill>
              <a:tailEnd len="med" type="triangle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LibreOffice/24.2.5.2$Linux_X86_64 LibreOffice_project/420$Build-2</Application>
  <AppVersion>15.0000</AppVersion>
  <Words>110</Words>
  <Paragraphs>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2016-02-19T22:07:14Z</dcterms:created>
  <dc:creator>kylelang</dc:creator>
  <dc:description/>
  <dc:language>en-DK</dc:language>
  <cp:lastModifiedBy>Kyle Lang</cp:lastModifiedBy>
  <dcterms:modified xsi:type="dcterms:W3CDTF">2024-09-30T08:34:39Z</dcterms:modified>
  <cp:revision>19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4</vt:i4>
  </property>
</Properties>
</file>